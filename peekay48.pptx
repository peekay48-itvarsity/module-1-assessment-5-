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0" d="100"/>
          <a:sy n="60" d="100"/>
        </p:scale>
        <p:origin x="24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E26A6-D1D9-534A-883D-282BD60518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5A36046C-FA46-C35B-C274-1E8EF42191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390A5907-3086-792D-93D8-4328A2B127CE}"/>
              </a:ext>
            </a:extLst>
          </p:cNvPr>
          <p:cNvSpPr>
            <a:spLocks noGrp="1"/>
          </p:cNvSpPr>
          <p:nvPr>
            <p:ph type="dt" sz="half" idx="10"/>
          </p:nvPr>
        </p:nvSpPr>
        <p:spPr/>
        <p:txBody>
          <a:bodyPr/>
          <a:lstStyle/>
          <a:p>
            <a:fld id="{AA37EFCE-CA89-46E8-83F4-6E3667DAEA39}" type="datetimeFigureOut">
              <a:rPr lang="en-ZA" smtClean="0"/>
              <a:t>2026/02/08</a:t>
            </a:fld>
            <a:endParaRPr lang="en-ZA"/>
          </a:p>
        </p:txBody>
      </p:sp>
      <p:sp>
        <p:nvSpPr>
          <p:cNvPr id="5" name="Footer Placeholder 4">
            <a:extLst>
              <a:ext uri="{FF2B5EF4-FFF2-40B4-BE49-F238E27FC236}">
                <a16:creationId xmlns:a16="http://schemas.microsoft.com/office/drawing/2014/main" id="{167B0BDD-95CE-5F2B-15CB-AAAD927ACCA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118A35B-0606-F72C-016A-1F86B760B5EC}"/>
              </a:ext>
            </a:extLst>
          </p:cNvPr>
          <p:cNvSpPr>
            <a:spLocks noGrp="1"/>
          </p:cNvSpPr>
          <p:nvPr>
            <p:ph type="sldNum" sz="quarter" idx="12"/>
          </p:nvPr>
        </p:nvSpPr>
        <p:spPr/>
        <p:txBody>
          <a:bodyPr/>
          <a:lstStyle/>
          <a:p>
            <a:fld id="{99428A27-7244-419C-B237-83B60B961FBD}" type="slidenum">
              <a:rPr lang="en-ZA" smtClean="0"/>
              <a:t>‹#›</a:t>
            </a:fld>
            <a:endParaRPr lang="en-ZA"/>
          </a:p>
        </p:txBody>
      </p:sp>
    </p:spTree>
    <p:extLst>
      <p:ext uri="{BB962C8B-B14F-4D97-AF65-F5344CB8AC3E}">
        <p14:creationId xmlns:p14="http://schemas.microsoft.com/office/powerpoint/2010/main" val="724528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A28D8-3E4D-2357-1360-0A4A5AED6583}"/>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074885C5-7558-1005-7F4E-5E0036DAFF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C86006E5-9754-3DC7-0400-78C3BBFEE555}"/>
              </a:ext>
            </a:extLst>
          </p:cNvPr>
          <p:cNvSpPr>
            <a:spLocks noGrp="1"/>
          </p:cNvSpPr>
          <p:nvPr>
            <p:ph type="dt" sz="half" idx="10"/>
          </p:nvPr>
        </p:nvSpPr>
        <p:spPr/>
        <p:txBody>
          <a:bodyPr/>
          <a:lstStyle/>
          <a:p>
            <a:fld id="{AA37EFCE-CA89-46E8-83F4-6E3667DAEA39}" type="datetimeFigureOut">
              <a:rPr lang="en-ZA" smtClean="0"/>
              <a:t>2026/02/08</a:t>
            </a:fld>
            <a:endParaRPr lang="en-ZA"/>
          </a:p>
        </p:txBody>
      </p:sp>
      <p:sp>
        <p:nvSpPr>
          <p:cNvPr id="5" name="Footer Placeholder 4">
            <a:extLst>
              <a:ext uri="{FF2B5EF4-FFF2-40B4-BE49-F238E27FC236}">
                <a16:creationId xmlns:a16="http://schemas.microsoft.com/office/drawing/2014/main" id="{D009A5A8-7F2E-8323-6409-8E525C2BC71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B2C0FFF-AE8B-06C1-249F-5F7FC13D43A2}"/>
              </a:ext>
            </a:extLst>
          </p:cNvPr>
          <p:cNvSpPr>
            <a:spLocks noGrp="1"/>
          </p:cNvSpPr>
          <p:nvPr>
            <p:ph type="sldNum" sz="quarter" idx="12"/>
          </p:nvPr>
        </p:nvSpPr>
        <p:spPr/>
        <p:txBody>
          <a:bodyPr/>
          <a:lstStyle/>
          <a:p>
            <a:fld id="{99428A27-7244-419C-B237-83B60B961FBD}" type="slidenum">
              <a:rPr lang="en-ZA" smtClean="0"/>
              <a:t>‹#›</a:t>
            </a:fld>
            <a:endParaRPr lang="en-ZA"/>
          </a:p>
        </p:txBody>
      </p:sp>
    </p:spTree>
    <p:extLst>
      <p:ext uri="{BB962C8B-B14F-4D97-AF65-F5344CB8AC3E}">
        <p14:creationId xmlns:p14="http://schemas.microsoft.com/office/powerpoint/2010/main" val="1696829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5A37-8EE4-F5CC-0150-313371B62D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82ED1AC5-C88E-3322-2B5F-D257E1192C5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53417E-8C81-8D10-62D3-F3060CE08986}"/>
              </a:ext>
            </a:extLst>
          </p:cNvPr>
          <p:cNvSpPr>
            <a:spLocks noGrp="1"/>
          </p:cNvSpPr>
          <p:nvPr>
            <p:ph type="dt" sz="half" idx="10"/>
          </p:nvPr>
        </p:nvSpPr>
        <p:spPr/>
        <p:txBody>
          <a:bodyPr/>
          <a:lstStyle/>
          <a:p>
            <a:fld id="{AA37EFCE-CA89-46E8-83F4-6E3667DAEA39}" type="datetimeFigureOut">
              <a:rPr lang="en-ZA" smtClean="0"/>
              <a:t>2026/02/08</a:t>
            </a:fld>
            <a:endParaRPr lang="en-ZA"/>
          </a:p>
        </p:txBody>
      </p:sp>
      <p:sp>
        <p:nvSpPr>
          <p:cNvPr id="5" name="Footer Placeholder 4">
            <a:extLst>
              <a:ext uri="{FF2B5EF4-FFF2-40B4-BE49-F238E27FC236}">
                <a16:creationId xmlns:a16="http://schemas.microsoft.com/office/drawing/2014/main" id="{E02E7FE3-7D23-BDB5-815E-95D2C96B4A8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D2198627-FBA7-F784-FF22-E4E6D790524E}"/>
              </a:ext>
            </a:extLst>
          </p:cNvPr>
          <p:cNvSpPr>
            <a:spLocks noGrp="1"/>
          </p:cNvSpPr>
          <p:nvPr>
            <p:ph type="sldNum" sz="quarter" idx="12"/>
          </p:nvPr>
        </p:nvSpPr>
        <p:spPr/>
        <p:txBody>
          <a:bodyPr/>
          <a:lstStyle/>
          <a:p>
            <a:fld id="{99428A27-7244-419C-B237-83B60B961FBD}" type="slidenum">
              <a:rPr lang="en-ZA" smtClean="0"/>
              <a:t>‹#›</a:t>
            </a:fld>
            <a:endParaRPr lang="en-ZA"/>
          </a:p>
        </p:txBody>
      </p:sp>
    </p:spTree>
    <p:extLst>
      <p:ext uri="{BB962C8B-B14F-4D97-AF65-F5344CB8AC3E}">
        <p14:creationId xmlns:p14="http://schemas.microsoft.com/office/powerpoint/2010/main" val="2952462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6D07C-B4C2-67AB-4454-56FC88D18CFF}"/>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973F4C85-663C-C078-662C-BF88B2CAF6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DDB3ADA2-8070-E162-ECE8-8DAA143973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2FE71A85-E136-7103-E965-44F44623C3D8}"/>
              </a:ext>
            </a:extLst>
          </p:cNvPr>
          <p:cNvSpPr>
            <a:spLocks noGrp="1"/>
          </p:cNvSpPr>
          <p:nvPr>
            <p:ph type="dt" sz="half" idx="10"/>
          </p:nvPr>
        </p:nvSpPr>
        <p:spPr/>
        <p:txBody>
          <a:bodyPr/>
          <a:lstStyle/>
          <a:p>
            <a:fld id="{AA37EFCE-CA89-46E8-83F4-6E3667DAEA39}" type="datetimeFigureOut">
              <a:rPr lang="en-ZA" smtClean="0"/>
              <a:t>2026/02/08</a:t>
            </a:fld>
            <a:endParaRPr lang="en-ZA"/>
          </a:p>
        </p:txBody>
      </p:sp>
      <p:sp>
        <p:nvSpPr>
          <p:cNvPr id="6" name="Footer Placeholder 5">
            <a:extLst>
              <a:ext uri="{FF2B5EF4-FFF2-40B4-BE49-F238E27FC236}">
                <a16:creationId xmlns:a16="http://schemas.microsoft.com/office/drawing/2014/main" id="{E29931AE-62B9-F96C-2182-AE1A6EE69A88}"/>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A4AE637B-37DB-98BF-742E-E64A586D9BD1}"/>
              </a:ext>
            </a:extLst>
          </p:cNvPr>
          <p:cNvSpPr>
            <a:spLocks noGrp="1"/>
          </p:cNvSpPr>
          <p:nvPr>
            <p:ph type="sldNum" sz="quarter" idx="12"/>
          </p:nvPr>
        </p:nvSpPr>
        <p:spPr/>
        <p:txBody>
          <a:bodyPr/>
          <a:lstStyle/>
          <a:p>
            <a:fld id="{99428A27-7244-419C-B237-83B60B961FBD}" type="slidenum">
              <a:rPr lang="en-ZA" smtClean="0"/>
              <a:t>‹#›</a:t>
            </a:fld>
            <a:endParaRPr lang="en-ZA"/>
          </a:p>
        </p:txBody>
      </p:sp>
    </p:spTree>
    <p:extLst>
      <p:ext uri="{BB962C8B-B14F-4D97-AF65-F5344CB8AC3E}">
        <p14:creationId xmlns:p14="http://schemas.microsoft.com/office/powerpoint/2010/main" val="1318673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962CA-63B6-A3D4-0306-CF9B7D2B4094}"/>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A216ABEF-77DA-AD2D-D185-9F16599135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35081A-EB86-E205-4294-88621FB6A2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2D0FB2EE-827D-C99A-739B-A89BEB71FB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404EF3-B36D-2B6F-AEE6-4A32128344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643A14AD-C8A2-A761-6C9E-4B0E99B12EC1}"/>
              </a:ext>
            </a:extLst>
          </p:cNvPr>
          <p:cNvSpPr>
            <a:spLocks noGrp="1"/>
          </p:cNvSpPr>
          <p:nvPr>
            <p:ph type="dt" sz="half" idx="10"/>
          </p:nvPr>
        </p:nvSpPr>
        <p:spPr/>
        <p:txBody>
          <a:bodyPr/>
          <a:lstStyle/>
          <a:p>
            <a:fld id="{AA37EFCE-CA89-46E8-83F4-6E3667DAEA39}" type="datetimeFigureOut">
              <a:rPr lang="en-ZA" smtClean="0"/>
              <a:t>2026/02/08</a:t>
            </a:fld>
            <a:endParaRPr lang="en-ZA"/>
          </a:p>
        </p:txBody>
      </p:sp>
      <p:sp>
        <p:nvSpPr>
          <p:cNvPr id="8" name="Footer Placeholder 7">
            <a:extLst>
              <a:ext uri="{FF2B5EF4-FFF2-40B4-BE49-F238E27FC236}">
                <a16:creationId xmlns:a16="http://schemas.microsoft.com/office/drawing/2014/main" id="{8850D855-2BC8-E608-6594-781E5D670151}"/>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00D3EE3A-EE08-8C11-1077-194FA2267A49}"/>
              </a:ext>
            </a:extLst>
          </p:cNvPr>
          <p:cNvSpPr>
            <a:spLocks noGrp="1"/>
          </p:cNvSpPr>
          <p:nvPr>
            <p:ph type="sldNum" sz="quarter" idx="12"/>
          </p:nvPr>
        </p:nvSpPr>
        <p:spPr/>
        <p:txBody>
          <a:bodyPr/>
          <a:lstStyle/>
          <a:p>
            <a:fld id="{99428A27-7244-419C-B237-83B60B961FBD}" type="slidenum">
              <a:rPr lang="en-ZA" smtClean="0"/>
              <a:t>‹#›</a:t>
            </a:fld>
            <a:endParaRPr lang="en-ZA"/>
          </a:p>
        </p:txBody>
      </p:sp>
    </p:spTree>
    <p:extLst>
      <p:ext uri="{BB962C8B-B14F-4D97-AF65-F5344CB8AC3E}">
        <p14:creationId xmlns:p14="http://schemas.microsoft.com/office/powerpoint/2010/main" val="827519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5CB65-8117-07DF-4020-7D5C52959954}"/>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BE5FC14C-1782-E7B2-85FF-7E0753054C53}"/>
              </a:ext>
            </a:extLst>
          </p:cNvPr>
          <p:cNvSpPr>
            <a:spLocks noGrp="1"/>
          </p:cNvSpPr>
          <p:nvPr>
            <p:ph type="dt" sz="half" idx="10"/>
          </p:nvPr>
        </p:nvSpPr>
        <p:spPr/>
        <p:txBody>
          <a:bodyPr/>
          <a:lstStyle/>
          <a:p>
            <a:fld id="{AA37EFCE-CA89-46E8-83F4-6E3667DAEA39}" type="datetimeFigureOut">
              <a:rPr lang="en-ZA" smtClean="0"/>
              <a:t>2026/02/08</a:t>
            </a:fld>
            <a:endParaRPr lang="en-ZA"/>
          </a:p>
        </p:txBody>
      </p:sp>
      <p:sp>
        <p:nvSpPr>
          <p:cNvPr id="4" name="Footer Placeholder 3">
            <a:extLst>
              <a:ext uri="{FF2B5EF4-FFF2-40B4-BE49-F238E27FC236}">
                <a16:creationId xmlns:a16="http://schemas.microsoft.com/office/drawing/2014/main" id="{B5694DF7-7D8A-BD54-E666-A17A5176AEDF}"/>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1DEBEF8B-79B1-9284-2E02-50FCBC52C4ED}"/>
              </a:ext>
            </a:extLst>
          </p:cNvPr>
          <p:cNvSpPr>
            <a:spLocks noGrp="1"/>
          </p:cNvSpPr>
          <p:nvPr>
            <p:ph type="sldNum" sz="quarter" idx="12"/>
          </p:nvPr>
        </p:nvSpPr>
        <p:spPr/>
        <p:txBody>
          <a:bodyPr/>
          <a:lstStyle/>
          <a:p>
            <a:fld id="{99428A27-7244-419C-B237-83B60B961FBD}" type="slidenum">
              <a:rPr lang="en-ZA" smtClean="0"/>
              <a:t>‹#›</a:t>
            </a:fld>
            <a:endParaRPr lang="en-ZA"/>
          </a:p>
        </p:txBody>
      </p:sp>
    </p:spTree>
    <p:extLst>
      <p:ext uri="{BB962C8B-B14F-4D97-AF65-F5344CB8AC3E}">
        <p14:creationId xmlns:p14="http://schemas.microsoft.com/office/powerpoint/2010/main" val="4281541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F5B0B6-E54E-6D3A-883A-5117C3CA2F9E}"/>
              </a:ext>
            </a:extLst>
          </p:cNvPr>
          <p:cNvSpPr>
            <a:spLocks noGrp="1"/>
          </p:cNvSpPr>
          <p:nvPr>
            <p:ph type="dt" sz="half" idx="10"/>
          </p:nvPr>
        </p:nvSpPr>
        <p:spPr/>
        <p:txBody>
          <a:bodyPr/>
          <a:lstStyle/>
          <a:p>
            <a:fld id="{AA37EFCE-CA89-46E8-83F4-6E3667DAEA39}" type="datetimeFigureOut">
              <a:rPr lang="en-ZA" smtClean="0"/>
              <a:t>2026/02/08</a:t>
            </a:fld>
            <a:endParaRPr lang="en-ZA"/>
          </a:p>
        </p:txBody>
      </p:sp>
      <p:sp>
        <p:nvSpPr>
          <p:cNvPr id="3" name="Footer Placeholder 2">
            <a:extLst>
              <a:ext uri="{FF2B5EF4-FFF2-40B4-BE49-F238E27FC236}">
                <a16:creationId xmlns:a16="http://schemas.microsoft.com/office/drawing/2014/main" id="{93B25D9A-60A1-F24B-8008-B6B2E238A8B1}"/>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8D456208-6D74-BA09-E127-F430781E327F}"/>
              </a:ext>
            </a:extLst>
          </p:cNvPr>
          <p:cNvSpPr>
            <a:spLocks noGrp="1"/>
          </p:cNvSpPr>
          <p:nvPr>
            <p:ph type="sldNum" sz="quarter" idx="12"/>
          </p:nvPr>
        </p:nvSpPr>
        <p:spPr/>
        <p:txBody>
          <a:bodyPr/>
          <a:lstStyle/>
          <a:p>
            <a:fld id="{99428A27-7244-419C-B237-83B60B961FBD}" type="slidenum">
              <a:rPr lang="en-ZA" smtClean="0"/>
              <a:t>‹#›</a:t>
            </a:fld>
            <a:endParaRPr lang="en-ZA"/>
          </a:p>
        </p:txBody>
      </p:sp>
    </p:spTree>
    <p:extLst>
      <p:ext uri="{BB962C8B-B14F-4D97-AF65-F5344CB8AC3E}">
        <p14:creationId xmlns:p14="http://schemas.microsoft.com/office/powerpoint/2010/main" val="2653731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78BDC-518A-F883-A3AB-ABFBD6F3B3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CCCA7125-6E3E-1FE6-3DAE-365D8DFED3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DB6A22BD-2889-B15C-4A3E-4D8172693F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CE5D47-2974-64D3-6504-D6A4C946FDE4}"/>
              </a:ext>
            </a:extLst>
          </p:cNvPr>
          <p:cNvSpPr>
            <a:spLocks noGrp="1"/>
          </p:cNvSpPr>
          <p:nvPr>
            <p:ph type="dt" sz="half" idx="10"/>
          </p:nvPr>
        </p:nvSpPr>
        <p:spPr/>
        <p:txBody>
          <a:bodyPr/>
          <a:lstStyle/>
          <a:p>
            <a:fld id="{AA37EFCE-CA89-46E8-83F4-6E3667DAEA39}" type="datetimeFigureOut">
              <a:rPr lang="en-ZA" smtClean="0"/>
              <a:t>2026/02/08</a:t>
            </a:fld>
            <a:endParaRPr lang="en-ZA"/>
          </a:p>
        </p:txBody>
      </p:sp>
      <p:sp>
        <p:nvSpPr>
          <p:cNvPr id="6" name="Footer Placeholder 5">
            <a:extLst>
              <a:ext uri="{FF2B5EF4-FFF2-40B4-BE49-F238E27FC236}">
                <a16:creationId xmlns:a16="http://schemas.microsoft.com/office/drawing/2014/main" id="{672C80A3-3150-1DA7-DE68-70D0612ABA20}"/>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6894445C-01CF-5652-5611-C44C1F60DBAC}"/>
              </a:ext>
            </a:extLst>
          </p:cNvPr>
          <p:cNvSpPr>
            <a:spLocks noGrp="1"/>
          </p:cNvSpPr>
          <p:nvPr>
            <p:ph type="sldNum" sz="quarter" idx="12"/>
          </p:nvPr>
        </p:nvSpPr>
        <p:spPr/>
        <p:txBody>
          <a:bodyPr/>
          <a:lstStyle/>
          <a:p>
            <a:fld id="{99428A27-7244-419C-B237-83B60B961FBD}" type="slidenum">
              <a:rPr lang="en-ZA" smtClean="0"/>
              <a:t>‹#›</a:t>
            </a:fld>
            <a:endParaRPr lang="en-ZA"/>
          </a:p>
        </p:txBody>
      </p:sp>
    </p:spTree>
    <p:extLst>
      <p:ext uri="{BB962C8B-B14F-4D97-AF65-F5344CB8AC3E}">
        <p14:creationId xmlns:p14="http://schemas.microsoft.com/office/powerpoint/2010/main" val="2741514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942C1-AC6B-1590-E768-EA950B5109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9CC6A1FF-7274-E753-B138-87DEB1FDC0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A6381B4C-F2EE-08E0-25A8-C49A6A45BE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012659-A63D-CB1B-4BF9-99A989C28FC5}"/>
              </a:ext>
            </a:extLst>
          </p:cNvPr>
          <p:cNvSpPr>
            <a:spLocks noGrp="1"/>
          </p:cNvSpPr>
          <p:nvPr>
            <p:ph type="dt" sz="half" idx="10"/>
          </p:nvPr>
        </p:nvSpPr>
        <p:spPr/>
        <p:txBody>
          <a:bodyPr/>
          <a:lstStyle/>
          <a:p>
            <a:fld id="{AA37EFCE-CA89-46E8-83F4-6E3667DAEA39}" type="datetimeFigureOut">
              <a:rPr lang="en-ZA" smtClean="0"/>
              <a:t>2026/02/08</a:t>
            </a:fld>
            <a:endParaRPr lang="en-ZA"/>
          </a:p>
        </p:txBody>
      </p:sp>
      <p:sp>
        <p:nvSpPr>
          <p:cNvPr id="6" name="Footer Placeholder 5">
            <a:extLst>
              <a:ext uri="{FF2B5EF4-FFF2-40B4-BE49-F238E27FC236}">
                <a16:creationId xmlns:a16="http://schemas.microsoft.com/office/drawing/2014/main" id="{5AB29608-4B7F-6EAD-D300-1872C7EFBBA0}"/>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B6509BF4-ABAC-C775-52A8-DDD44485ED08}"/>
              </a:ext>
            </a:extLst>
          </p:cNvPr>
          <p:cNvSpPr>
            <a:spLocks noGrp="1"/>
          </p:cNvSpPr>
          <p:nvPr>
            <p:ph type="sldNum" sz="quarter" idx="12"/>
          </p:nvPr>
        </p:nvSpPr>
        <p:spPr/>
        <p:txBody>
          <a:bodyPr/>
          <a:lstStyle/>
          <a:p>
            <a:fld id="{99428A27-7244-419C-B237-83B60B961FBD}" type="slidenum">
              <a:rPr lang="en-ZA" smtClean="0"/>
              <a:t>‹#›</a:t>
            </a:fld>
            <a:endParaRPr lang="en-ZA"/>
          </a:p>
        </p:txBody>
      </p:sp>
    </p:spTree>
    <p:extLst>
      <p:ext uri="{BB962C8B-B14F-4D97-AF65-F5344CB8AC3E}">
        <p14:creationId xmlns:p14="http://schemas.microsoft.com/office/powerpoint/2010/main" val="3088437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1B5D9-286F-D433-6A1F-D1C099555C7B}"/>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214918AB-F5BE-DE65-776C-083D9E5503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B2A2093-5A8A-64CB-4CC2-8C10E707680B}"/>
              </a:ext>
            </a:extLst>
          </p:cNvPr>
          <p:cNvSpPr>
            <a:spLocks noGrp="1"/>
          </p:cNvSpPr>
          <p:nvPr>
            <p:ph type="dt" sz="half" idx="10"/>
          </p:nvPr>
        </p:nvSpPr>
        <p:spPr/>
        <p:txBody>
          <a:bodyPr/>
          <a:lstStyle/>
          <a:p>
            <a:fld id="{AA37EFCE-CA89-46E8-83F4-6E3667DAEA39}" type="datetimeFigureOut">
              <a:rPr lang="en-ZA" smtClean="0"/>
              <a:t>2026/02/08</a:t>
            </a:fld>
            <a:endParaRPr lang="en-ZA"/>
          </a:p>
        </p:txBody>
      </p:sp>
      <p:sp>
        <p:nvSpPr>
          <p:cNvPr id="5" name="Footer Placeholder 4">
            <a:extLst>
              <a:ext uri="{FF2B5EF4-FFF2-40B4-BE49-F238E27FC236}">
                <a16:creationId xmlns:a16="http://schemas.microsoft.com/office/drawing/2014/main" id="{9A69F9A6-867A-EAA6-E571-15484D00907A}"/>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9992431-FCDF-3283-B409-88F850407D37}"/>
              </a:ext>
            </a:extLst>
          </p:cNvPr>
          <p:cNvSpPr>
            <a:spLocks noGrp="1"/>
          </p:cNvSpPr>
          <p:nvPr>
            <p:ph type="sldNum" sz="quarter" idx="12"/>
          </p:nvPr>
        </p:nvSpPr>
        <p:spPr/>
        <p:txBody>
          <a:bodyPr/>
          <a:lstStyle/>
          <a:p>
            <a:fld id="{99428A27-7244-419C-B237-83B60B961FBD}" type="slidenum">
              <a:rPr lang="en-ZA" smtClean="0"/>
              <a:t>‹#›</a:t>
            </a:fld>
            <a:endParaRPr lang="en-ZA"/>
          </a:p>
        </p:txBody>
      </p:sp>
    </p:spTree>
    <p:extLst>
      <p:ext uri="{BB962C8B-B14F-4D97-AF65-F5344CB8AC3E}">
        <p14:creationId xmlns:p14="http://schemas.microsoft.com/office/powerpoint/2010/main" val="3014509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8E5701-930D-CCDA-F3C1-A8B4F109C1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7F16F61C-E224-12E5-4C6D-A0FB19A553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80ECEB2-D5FB-C0E0-B1E7-EBE9E6616C8F}"/>
              </a:ext>
            </a:extLst>
          </p:cNvPr>
          <p:cNvSpPr>
            <a:spLocks noGrp="1"/>
          </p:cNvSpPr>
          <p:nvPr>
            <p:ph type="dt" sz="half" idx="10"/>
          </p:nvPr>
        </p:nvSpPr>
        <p:spPr/>
        <p:txBody>
          <a:bodyPr/>
          <a:lstStyle/>
          <a:p>
            <a:fld id="{AA37EFCE-CA89-46E8-83F4-6E3667DAEA39}" type="datetimeFigureOut">
              <a:rPr lang="en-ZA" smtClean="0"/>
              <a:t>2026/02/08</a:t>
            </a:fld>
            <a:endParaRPr lang="en-ZA"/>
          </a:p>
        </p:txBody>
      </p:sp>
      <p:sp>
        <p:nvSpPr>
          <p:cNvPr id="5" name="Footer Placeholder 4">
            <a:extLst>
              <a:ext uri="{FF2B5EF4-FFF2-40B4-BE49-F238E27FC236}">
                <a16:creationId xmlns:a16="http://schemas.microsoft.com/office/drawing/2014/main" id="{8ACCF2B5-65E4-9184-A62D-127B7064AB6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0501E88-DA22-BA3A-3A03-6843C3250559}"/>
              </a:ext>
            </a:extLst>
          </p:cNvPr>
          <p:cNvSpPr>
            <a:spLocks noGrp="1"/>
          </p:cNvSpPr>
          <p:nvPr>
            <p:ph type="sldNum" sz="quarter" idx="12"/>
          </p:nvPr>
        </p:nvSpPr>
        <p:spPr/>
        <p:txBody>
          <a:bodyPr/>
          <a:lstStyle/>
          <a:p>
            <a:fld id="{99428A27-7244-419C-B237-83B60B961FBD}" type="slidenum">
              <a:rPr lang="en-ZA" smtClean="0"/>
              <a:t>‹#›</a:t>
            </a:fld>
            <a:endParaRPr lang="en-ZA"/>
          </a:p>
        </p:txBody>
      </p:sp>
    </p:spTree>
    <p:extLst>
      <p:ext uri="{BB962C8B-B14F-4D97-AF65-F5344CB8AC3E}">
        <p14:creationId xmlns:p14="http://schemas.microsoft.com/office/powerpoint/2010/main" val="3769903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A9AEA4-CDE3-BBA2-A76A-2AE1A5ED1E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8D0D7DF3-6E5F-F078-3AB9-79BB18278B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E412B2CC-F99B-8562-B5A6-981E1AA3FA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A37EFCE-CA89-46E8-83F4-6E3667DAEA39}" type="datetimeFigureOut">
              <a:rPr lang="en-ZA" smtClean="0"/>
              <a:t>2026/02/08</a:t>
            </a:fld>
            <a:endParaRPr lang="en-ZA"/>
          </a:p>
        </p:txBody>
      </p:sp>
      <p:sp>
        <p:nvSpPr>
          <p:cNvPr id="5" name="Footer Placeholder 4">
            <a:extLst>
              <a:ext uri="{FF2B5EF4-FFF2-40B4-BE49-F238E27FC236}">
                <a16:creationId xmlns:a16="http://schemas.microsoft.com/office/drawing/2014/main" id="{10DDAA8A-EFFE-56D3-4838-76A7B29518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D7ECB95C-0E21-4449-2C1A-A2341A4443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428A27-7244-419C-B237-83B60B961FBD}" type="slidenum">
              <a:rPr lang="en-ZA" smtClean="0"/>
              <a:t>‹#›</a:t>
            </a:fld>
            <a:endParaRPr lang="en-ZA"/>
          </a:p>
        </p:txBody>
      </p:sp>
    </p:spTree>
    <p:extLst>
      <p:ext uri="{BB962C8B-B14F-4D97-AF65-F5344CB8AC3E}">
        <p14:creationId xmlns:p14="http://schemas.microsoft.com/office/powerpoint/2010/main" val="1125010267"/>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tectargets.com/" TargetMode="External"/><Relationship Id="rId2" Type="http://schemas.openxmlformats.org/officeDocument/2006/relationships/hyperlink" Target="https://www,ibm.com/" TargetMode="External"/><Relationship Id="rId1" Type="http://schemas.openxmlformats.org/officeDocument/2006/relationships/slideLayout" Target="../slideLayouts/slideLayout2.xml"/><Relationship Id="rId5" Type="http://schemas.openxmlformats.org/officeDocument/2006/relationships/hyperlink" Target="https://www.oracle.com/" TargetMode="External"/><Relationship Id="rId4" Type="http://schemas.openxmlformats.org/officeDocument/2006/relationships/hyperlink" Target="https://www.invesopedia.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Rectangle 1032">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94A20AD5-D56F-444E-4D2C-D52AC9756E08}"/>
              </a:ext>
            </a:extLst>
          </p:cNvPr>
          <p:cNvSpPr>
            <a:spLocks noGrp="1"/>
          </p:cNvSpPr>
          <p:nvPr>
            <p:ph type="ctrTitle"/>
          </p:nvPr>
        </p:nvSpPr>
        <p:spPr>
          <a:xfrm>
            <a:off x="1295400" y="669925"/>
            <a:ext cx="4800600" cy="1325563"/>
          </a:xfrm>
        </p:spPr>
        <p:txBody>
          <a:bodyPr vert="horz" lIns="91440" tIns="45720" rIns="91440" bIns="45720" rtlCol="0" anchor="b">
            <a:normAutofit/>
          </a:bodyPr>
          <a:lstStyle/>
          <a:p>
            <a:pPr algn="l"/>
            <a:r>
              <a:rPr lang="en-US" sz="4400">
                <a:solidFill>
                  <a:schemeClr val="bg1"/>
                </a:solidFill>
              </a:rPr>
              <a:t>Assessment 2: The Internet of things</a:t>
            </a:r>
          </a:p>
        </p:txBody>
      </p:sp>
      <p:cxnSp>
        <p:nvCxnSpPr>
          <p:cNvPr id="1035" name="Straight Connector 1034">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3321C947-CE1C-25D8-6761-41E7C3D84BE2}"/>
              </a:ext>
            </a:extLst>
          </p:cNvPr>
          <p:cNvSpPr>
            <a:spLocks noGrp="1"/>
          </p:cNvSpPr>
          <p:nvPr>
            <p:ph type="subTitle" idx="1"/>
          </p:nvPr>
        </p:nvSpPr>
        <p:spPr>
          <a:xfrm>
            <a:off x="1295400" y="2288833"/>
            <a:ext cx="4800600" cy="3711571"/>
          </a:xfrm>
        </p:spPr>
        <p:txBody>
          <a:bodyPr vert="horz" lIns="91440" tIns="45720" rIns="91440" bIns="45720" rtlCol="0">
            <a:normAutofit/>
          </a:bodyPr>
          <a:lstStyle/>
          <a:p>
            <a:pPr indent="-228600" algn="l">
              <a:buFont typeface="Arial" panose="020B0604020202020204" pitchFamily="34" charset="0"/>
              <a:buChar char="•"/>
            </a:pPr>
            <a:r>
              <a:rPr lang="en-US" sz="2000">
                <a:solidFill>
                  <a:schemeClr val="bg1"/>
                </a:solidFill>
              </a:rPr>
              <a:t>Presented by: Phakama Myeni</a:t>
            </a:r>
          </a:p>
          <a:p>
            <a:pPr indent="-228600" algn="l">
              <a:buFont typeface="Arial" panose="020B0604020202020204" pitchFamily="34" charset="0"/>
              <a:buChar char="•"/>
            </a:pPr>
            <a:r>
              <a:rPr lang="en-US" sz="2000">
                <a:solidFill>
                  <a:schemeClr val="bg1"/>
                </a:solidFill>
              </a:rPr>
              <a:t>Date: 09/02/2026</a:t>
            </a:r>
          </a:p>
          <a:p>
            <a:pPr indent="-228600" algn="l">
              <a:buFont typeface="Arial" panose="020B0604020202020204" pitchFamily="34" charset="0"/>
              <a:buChar char="•"/>
            </a:pPr>
            <a:r>
              <a:rPr lang="en-US" sz="2000">
                <a:solidFill>
                  <a:schemeClr val="bg1"/>
                </a:solidFill>
              </a:rPr>
              <a:t>Institution: IT Varsity</a:t>
            </a:r>
          </a:p>
          <a:p>
            <a:pPr indent="-228600" algn="l">
              <a:buFont typeface="Arial" panose="020B0604020202020204" pitchFamily="34" charset="0"/>
              <a:buChar char="•"/>
            </a:pPr>
            <a:endParaRPr lang="en-US" sz="2000">
              <a:solidFill>
                <a:schemeClr val="bg1"/>
              </a:solidFill>
            </a:endParaRPr>
          </a:p>
        </p:txBody>
      </p:sp>
      <p:pic>
        <p:nvPicPr>
          <p:cNvPr id="1026" name="Picture 2" descr="What Does it Mean to be &quot;On&quot; The ...">
            <a:extLst>
              <a:ext uri="{FF2B5EF4-FFF2-40B4-BE49-F238E27FC236}">
                <a16:creationId xmlns:a16="http://schemas.microsoft.com/office/drawing/2014/main" id="{44F2D5BE-098F-04F0-CB98-7E0A168FE50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68794" y="369913"/>
            <a:ext cx="3341438" cy="2784532"/>
          </a:xfrm>
          <a:prstGeom prst="rect">
            <a:avLst/>
          </a:prstGeom>
          <a:noFill/>
          <a:extLst>
            <a:ext uri="{909E8E84-426E-40DD-AFC4-6F175D3DCCD1}">
              <a14:hiddenFill xmlns:a14="http://schemas.microsoft.com/office/drawing/2010/main">
                <a:solidFill>
                  <a:srgbClr val="FFFFFF"/>
                </a:solidFill>
              </a14:hiddenFill>
            </a:ext>
          </a:extLst>
        </p:spPr>
      </p:pic>
      <p:sp>
        <p:nvSpPr>
          <p:cNvPr id="1037" name="Rectangle 1036">
            <a:extLst>
              <a:ext uri="{FF2B5EF4-FFF2-40B4-BE49-F238E27FC236}">
                <a16:creationId xmlns:a16="http://schemas.microsoft.com/office/drawing/2014/main" id="{C87417AF-190E-4D6E-AFA6-7D3E84B0B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603" y="182859"/>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The Internet of Things - MRO Electric Blog">
            <a:extLst>
              <a:ext uri="{FF2B5EF4-FFF2-40B4-BE49-F238E27FC236}">
                <a16:creationId xmlns:a16="http://schemas.microsoft.com/office/drawing/2014/main" id="{12ED854A-DED4-F584-69E4-F255EF1A8A3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038661" y="4113228"/>
            <a:ext cx="3588640" cy="2018610"/>
          </a:xfrm>
          <a:prstGeom prst="rect">
            <a:avLst/>
          </a:prstGeom>
          <a:noFill/>
          <a:extLst>
            <a:ext uri="{909E8E84-426E-40DD-AFC4-6F175D3DCCD1}">
              <a14:hiddenFill xmlns:a14="http://schemas.microsoft.com/office/drawing/2010/main">
                <a:solidFill>
                  <a:srgbClr val="FFFFFF"/>
                </a:solidFill>
              </a14:hiddenFill>
            </a:ext>
          </a:extLst>
        </p:spPr>
      </p:pic>
      <p:sp>
        <p:nvSpPr>
          <p:cNvPr id="1039" name="Rectangle 1038">
            <a:extLst>
              <a:ext uri="{FF2B5EF4-FFF2-40B4-BE49-F238E27FC236}">
                <a16:creationId xmlns:a16="http://schemas.microsoft.com/office/drawing/2014/main" id="{80B30ED8-273E-4C07-8568-2FE5CC5C4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5071" y="3543213"/>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2450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0CEDB62E-A451-3A5F-75E2-9C3AF7A2A1DD}"/>
              </a:ext>
            </a:extLst>
          </p:cNvPr>
          <p:cNvSpPr>
            <a:spLocks noGrp="1"/>
          </p:cNvSpPr>
          <p:nvPr>
            <p:ph type="title"/>
          </p:nvPr>
        </p:nvSpPr>
        <p:spPr>
          <a:xfrm>
            <a:off x="1014141" y="1450655"/>
            <a:ext cx="3932030" cy="3956690"/>
          </a:xfrm>
        </p:spPr>
        <p:txBody>
          <a:bodyPr anchor="ctr">
            <a:normAutofit/>
          </a:bodyPr>
          <a:lstStyle/>
          <a:p>
            <a:r>
              <a:rPr lang="en-US" sz="6200" b="0" i="0">
                <a:solidFill>
                  <a:schemeClr val="bg1"/>
                </a:solidFill>
                <a:effectLst/>
                <a:latin typeface="Rubik"/>
              </a:rPr>
              <a:t>What is the Internet of Things?</a:t>
            </a:r>
            <a:br>
              <a:rPr lang="en-US" sz="6200" b="0" i="0">
                <a:solidFill>
                  <a:schemeClr val="bg1"/>
                </a:solidFill>
                <a:effectLst/>
                <a:latin typeface="Rubik"/>
              </a:rPr>
            </a:br>
            <a:endParaRPr lang="en-ZA" sz="6200">
              <a:solidFill>
                <a:schemeClr val="bg1"/>
              </a:solidFill>
            </a:endParaRPr>
          </a:p>
        </p:txBody>
      </p:sp>
      <p:cxnSp>
        <p:nvCxnSpPr>
          <p:cNvPr id="6" name="Straight Connector 5">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8D2BCB6-D2AB-0870-67DB-CF394457392C}"/>
              </a:ext>
            </a:extLst>
          </p:cNvPr>
          <p:cNvSpPr>
            <a:spLocks noGrp="1"/>
          </p:cNvSpPr>
          <p:nvPr>
            <p:ph idx="1"/>
          </p:nvPr>
        </p:nvSpPr>
        <p:spPr>
          <a:xfrm>
            <a:off x="6096000" y="1108061"/>
            <a:ext cx="5008901" cy="4571972"/>
          </a:xfrm>
        </p:spPr>
        <p:txBody>
          <a:bodyPr anchor="ctr">
            <a:normAutofit/>
          </a:bodyPr>
          <a:lstStyle/>
          <a:p>
            <a:r>
              <a:rPr lang="en-US" sz="2000">
                <a:solidFill>
                  <a:schemeClr val="bg1"/>
                </a:solidFill>
              </a:rPr>
              <a:t>In its simplest form, the Internet of Things (IoT) is a network of physical objects or things that have sensors, software, and other technologies. This setup allows them to connect and exchange data with other devices and systems over the internet .</a:t>
            </a:r>
          </a:p>
          <a:p>
            <a:r>
              <a:rPr lang="en-US" sz="2000">
                <a:solidFill>
                  <a:schemeClr val="bg1"/>
                </a:solidFill>
              </a:rPr>
              <a:t>IoT serves as a link between the physical and digital worlds. While your laptop and smartphone have always been connected, IoT adds “dumb” objects , such as lightbulbs, toothbrushes, or industrial turbines to the mix.</a:t>
            </a:r>
            <a:endParaRPr lang="en-ZA" sz="2000">
              <a:solidFill>
                <a:schemeClr val="bg1"/>
              </a:solidFill>
            </a:endParaRPr>
          </a:p>
        </p:txBody>
      </p:sp>
    </p:spTree>
    <p:extLst>
      <p:ext uri="{BB962C8B-B14F-4D97-AF65-F5344CB8AC3E}">
        <p14:creationId xmlns:p14="http://schemas.microsoft.com/office/powerpoint/2010/main" val="3192025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105F7CDB-A217-8DDE-231E-5D7FD4101AF8}"/>
              </a:ext>
            </a:extLst>
          </p:cNvPr>
          <p:cNvSpPr>
            <a:spLocks noGrp="1"/>
          </p:cNvSpPr>
          <p:nvPr>
            <p:ph type="title"/>
          </p:nvPr>
        </p:nvSpPr>
        <p:spPr>
          <a:xfrm>
            <a:off x="1014141" y="1450655"/>
            <a:ext cx="3932030" cy="3956690"/>
          </a:xfrm>
        </p:spPr>
        <p:txBody>
          <a:bodyPr anchor="ctr">
            <a:normAutofit/>
          </a:bodyPr>
          <a:lstStyle/>
          <a:p>
            <a:r>
              <a:rPr lang="en-US" sz="6800">
                <a:solidFill>
                  <a:schemeClr val="bg1"/>
                </a:solidFill>
              </a:rPr>
              <a:t>What is the history of IoT?</a:t>
            </a:r>
            <a:br>
              <a:rPr lang="en-US" sz="6800">
                <a:solidFill>
                  <a:schemeClr val="bg1"/>
                </a:solidFill>
              </a:rPr>
            </a:br>
            <a:endParaRPr lang="en-US" sz="6800" b="0" i="0">
              <a:solidFill>
                <a:schemeClr val="bg1"/>
              </a:solidFill>
              <a:effectLst/>
              <a:latin typeface="Rubik"/>
            </a:endParaRPr>
          </a:p>
        </p:txBody>
      </p:sp>
      <p:cxnSp>
        <p:nvCxnSpPr>
          <p:cNvPr id="10" name="Straight Connector 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A3BECF5-A319-34D8-0763-EA75A1226A89}"/>
              </a:ext>
            </a:extLst>
          </p:cNvPr>
          <p:cNvSpPr>
            <a:spLocks noGrp="1"/>
          </p:cNvSpPr>
          <p:nvPr>
            <p:ph idx="1"/>
          </p:nvPr>
        </p:nvSpPr>
        <p:spPr>
          <a:xfrm>
            <a:off x="6096000" y="1108061"/>
            <a:ext cx="5008901" cy="4571972"/>
          </a:xfrm>
        </p:spPr>
        <p:txBody>
          <a:bodyPr anchor="ctr">
            <a:normAutofit fontScale="92500" lnSpcReduction="20000"/>
          </a:bodyPr>
          <a:lstStyle/>
          <a:p>
            <a:r>
              <a:rPr lang="en-US" sz="2000" dirty="0">
                <a:solidFill>
                  <a:schemeClr val="bg1"/>
                </a:solidFill>
              </a:rPr>
              <a:t>The history of the Internet of Things (IoT) shows a journey from a simple “connected machines”  to a global network of billions of smart devices. Although the team was introduced in 1999, the idea of a connected world started much earlier.</a:t>
            </a:r>
          </a:p>
          <a:p>
            <a:r>
              <a:rPr lang="en-US" sz="2000" dirty="0">
                <a:solidFill>
                  <a:schemeClr val="bg1"/>
                </a:solidFill>
              </a:rPr>
              <a:t>The first electromagnetic telegraph was invented. It allowed machines to send information using electrical signals</a:t>
            </a:r>
          </a:p>
          <a:p>
            <a:r>
              <a:rPr lang="en-US" sz="2000" dirty="0">
                <a:solidFill>
                  <a:schemeClr val="bg1"/>
                </a:solidFill>
              </a:rPr>
              <a:t>Students connected a vending machine to the university’s local network. This way, they could check if the soda is cold and stock before walking to get one. This is widely seen as the first “IoT” device.</a:t>
            </a:r>
          </a:p>
          <a:p>
            <a:r>
              <a:rPr lang="en-US" sz="2000" dirty="0">
                <a:solidFill>
                  <a:schemeClr val="bg1"/>
                </a:solidFill>
              </a:rPr>
              <a:t>The rollout of5G has removed the “lag  that used to affect devices. This change enables real-time autonomous cars and remote robotic surgery</a:t>
            </a:r>
          </a:p>
          <a:p>
            <a:endParaRPr lang="en-ZA" sz="2000" dirty="0">
              <a:solidFill>
                <a:schemeClr val="bg1"/>
              </a:solidFill>
            </a:endParaRPr>
          </a:p>
        </p:txBody>
      </p:sp>
    </p:spTree>
    <p:extLst>
      <p:ext uri="{BB962C8B-B14F-4D97-AF65-F5344CB8AC3E}">
        <p14:creationId xmlns:p14="http://schemas.microsoft.com/office/powerpoint/2010/main" val="2484176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735D0E9E-2598-94BE-EB20-A5CE4A7C6C20}"/>
              </a:ext>
            </a:extLst>
          </p:cNvPr>
          <p:cNvSpPr>
            <a:spLocks noGrp="1"/>
          </p:cNvSpPr>
          <p:nvPr>
            <p:ph type="title"/>
          </p:nvPr>
        </p:nvSpPr>
        <p:spPr>
          <a:xfrm>
            <a:off x="1014141" y="1450655"/>
            <a:ext cx="3932030" cy="3956690"/>
          </a:xfrm>
        </p:spPr>
        <p:txBody>
          <a:bodyPr anchor="ctr">
            <a:normAutofit/>
          </a:bodyPr>
          <a:lstStyle/>
          <a:p>
            <a:r>
              <a:rPr lang="en-ZA" sz="5600" dirty="0">
                <a:solidFill>
                  <a:schemeClr val="bg1"/>
                </a:solidFill>
              </a:rPr>
              <a:t>What technologies enable IoT?</a:t>
            </a:r>
            <a:br>
              <a:rPr lang="en-ZA" sz="5600" dirty="0">
                <a:solidFill>
                  <a:schemeClr val="bg1"/>
                </a:solidFill>
              </a:rPr>
            </a:br>
            <a:endParaRPr lang="en-ZA" sz="5600" dirty="0">
              <a:solidFill>
                <a:schemeClr val="bg1"/>
              </a:solidFill>
            </a:endParaRPr>
          </a:p>
        </p:txBody>
      </p:sp>
      <p:cxnSp>
        <p:nvCxnSpPr>
          <p:cNvPr id="10" name="Straight Connector 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D7BE1F9-CC42-53C6-9626-5F8541909885}"/>
              </a:ext>
            </a:extLst>
          </p:cNvPr>
          <p:cNvSpPr>
            <a:spLocks noGrp="1"/>
          </p:cNvSpPr>
          <p:nvPr>
            <p:ph idx="1"/>
          </p:nvPr>
        </p:nvSpPr>
        <p:spPr>
          <a:xfrm>
            <a:off x="6096000" y="1108061"/>
            <a:ext cx="5008901" cy="4571972"/>
          </a:xfrm>
        </p:spPr>
        <p:txBody>
          <a:bodyPr anchor="ctr">
            <a:normAutofit fontScale="92500" lnSpcReduction="20000"/>
          </a:bodyPr>
          <a:lstStyle/>
          <a:p>
            <a:r>
              <a:rPr lang="en-US" sz="2000" dirty="0">
                <a:solidFill>
                  <a:schemeClr val="bg1"/>
                </a:solidFill>
              </a:rPr>
              <a:t>As of 2026, The technology stack has advanced beyond simple connectivity into </a:t>
            </a:r>
            <a:r>
              <a:rPr lang="en-US" sz="2000" dirty="0" err="1">
                <a:solidFill>
                  <a:schemeClr val="bg1"/>
                </a:solidFill>
              </a:rPr>
              <a:t>AIoT</a:t>
            </a:r>
            <a:r>
              <a:rPr lang="en-US" sz="2000" dirty="0">
                <a:solidFill>
                  <a:schemeClr val="bg1"/>
                </a:solidFill>
              </a:rPr>
              <a:t>   (Artificial Intelligence of Things). In this realm, devices not only send data , but they also understand it.</a:t>
            </a:r>
          </a:p>
          <a:p>
            <a:r>
              <a:rPr lang="en-ZA" sz="2000" dirty="0">
                <a:solidFill>
                  <a:schemeClr val="bg1"/>
                </a:solidFill>
              </a:rPr>
              <a:t>The  “muscles” enable the IoT system to perform actions, such as a opening a valve, turning on a light, or locking a door.</a:t>
            </a:r>
          </a:p>
          <a:p>
            <a:r>
              <a:rPr lang="en-ZA" sz="2000" dirty="0">
                <a:solidFill>
                  <a:schemeClr val="bg1"/>
                </a:solidFill>
              </a:rPr>
              <a:t>The new universal standards for smart homes let your Apple, Google, and Amazon devices work together more easily</a:t>
            </a:r>
          </a:p>
          <a:p>
            <a:r>
              <a:rPr lang="en-ZA" sz="2000" dirty="0">
                <a:solidFill>
                  <a:schemeClr val="bg1"/>
                </a:solidFill>
              </a:rPr>
              <a:t>Virtual 3D replicas of physical objects, like a jet engine , update in real time using sensor data. They predict when the real object will fail .</a:t>
            </a:r>
          </a:p>
          <a:p>
            <a:r>
              <a:rPr lang="en-ZA" sz="2000" dirty="0">
                <a:solidFill>
                  <a:schemeClr val="bg1"/>
                </a:solidFill>
              </a:rPr>
              <a:t>Hardware-level protection that stop hackers  from installing harmful software when a device starts up.</a:t>
            </a:r>
          </a:p>
        </p:txBody>
      </p:sp>
    </p:spTree>
    <p:extLst>
      <p:ext uri="{BB962C8B-B14F-4D97-AF65-F5344CB8AC3E}">
        <p14:creationId xmlns:p14="http://schemas.microsoft.com/office/powerpoint/2010/main" val="761221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EE819F1F-7CF2-2E13-21E6-46EE52F1D0E0}"/>
              </a:ext>
            </a:extLst>
          </p:cNvPr>
          <p:cNvSpPr>
            <a:spLocks noGrp="1"/>
          </p:cNvSpPr>
          <p:nvPr>
            <p:ph type="title"/>
          </p:nvPr>
        </p:nvSpPr>
        <p:spPr>
          <a:xfrm>
            <a:off x="1014141" y="1450655"/>
            <a:ext cx="3932030" cy="3956690"/>
          </a:xfrm>
        </p:spPr>
        <p:txBody>
          <a:bodyPr anchor="ctr">
            <a:normAutofit/>
          </a:bodyPr>
          <a:lstStyle/>
          <a:p>
            <a:r>
              <a:rPr lang="en-ZA" sz="6800" dirty="0">
                <a:solidFill>
                  <a:schemeClr val="bg1"/>
                </a:solidFill>
              </a:rPr>
              <a:t>What is its impact?</a:t>
            </a:r>
            <a:br>
              <a:rPr lang="en-ZA" sz="6800" dirty="0">
                <a:solidFill>
                  <a:schemeClr val="bg1"/>
                </a:solidFill>
              </a:rPr>
            </a:br>
            <a:endParaRPr lang="en-ZA" sz="6800" dirty="0">
              <a:solidFill>
                <a:schemeClr val="bg1"/>
              </a:solidFill>
            </a:endParaRPr>
          </a:p>
        </p:txBody>
      </p:sp>
      <p:cxnSp>
        <p:nvCxnSpPr>
          <p:cNvPr id="19" name="Straight Connector 18">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349C1A8-E94B-5396-2706-7E3840D80805}"/>
              </a:ext>
            </a:extLst>
          </p:cNvPr>
          <p:cNvSpPr>
            <a:spLocks noGrp="1"/>
          </p:cNvSpPr>
          <p:nvPr>
            <p:ph idx="1"/>
          </p:nvPr>
        </p:nvSpPr>
        <p:spPr>
          <a:xfrm>
            <a:off x="6096000" y="1108061"/>
            <a:ext cx="5008901" cy="4571972"/>
          </a:xfrm>
        </p:spPr>
        <p:txBody>
          <a:bodyPr anchor="ctr">
            <a:normAutofit fontScale="85000" lnSpcReduction="20000"/>
          </a:bodyPr>
          <a:lstStyle/>
          <a:p>
            <a:r>
              <a:rPr lang="en-US" sz="2000" dirty="0">
                <a:solidFill>
                  <a:schemeClr val="bg1"/>
                </a:solidFill>
              </a:rPr>
              <a:t>In 2026, the Internet of Things (IoT)  has processed beyond the  “smart gadget” stage and has become a crucial part of the global company and everyday life, Its impact is measured not just in convenience , but also in operational metrics, such as downtime avoided, lives saved, and carbon reduced.</a:t>
            </a:r>
          </a:p>
          <a:p>
            <a:r>
              <a:rPr lang="en-US" sz="2000" dirty="0">
                <a:solidFill>
                  <a:schemeClr val="bg1"/>
                </a:solidFill>
              </a:rPr>
              <a:t> In 2026, countries, especially India with its ISM 2.0 mission, are using IoT to track essential minerals and semiconductors in real-time. This help them protect themselves from global supply stocks.</a:t>
            </a:r>
          </a:p>
          <a:p>
            <a:r>
              <a:rPr lang="en-US" sz="2000" dirty="0">
                <a:solidFill>
                  <a:schemeClr val="bg1"/>
                </a:solidFill>
              </a:rPr>
              <a:t>Hospitals now send connected kits, including ECG patches, smart scales, and glucose monitors, to patients. This lets doctors track chronic conditions in real-time. As a result, they can prevent thousands of re-admissions.</a:t>
            </a:r>
          </a:p>
          <a:p>
            <a:r>
              <a:rPr lang="en-US" sz="2000" dirty="0">
                <a:solidFill>
                  <a:schemeClr val="bg1"/>
                </a:solidFill>
              </a:rPr>
              <a:t>Smart grids now automatically balance renewable energy like wind and solar. This approach significantly cuts down on waste. </a:t>
            </a:r>
            <a:endParaRPr lang="en-ZA" sz="2000" dirty="0">
              <a:solidFill>
                <a:schemeClr val="bg1"/>
              </a:solidFill>
            </a:endParaRPr>
          </a:p>
        </p:txBody>
      </p:sp>
    </p:spTree>
    <p:extLst>
      <p:ext uri="{BB962C8B-B14F-4D97-AF65-F5344CB8AC3E}">
        <p14:creationId xmlns:p14="http://schemas.microsoft.com/office/powerpoint/2010/main" val="3953438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E0D42C22-764A-3330-884E-ED2D0BD0C49D}"/>
              </a:ext>
            </a:extLst>
          </p:cNvPr>
          <p:cNvSpPr>
            <a:spLocks noGrp="1"/>
          </p:cNvSpPr>
          <p:nvPr>
            <p:ph type="title"/>
          </p:nvPr>
        </p:nvSpPr>
        <p:spPr>
          <a:xfrm>
            <a:off x="1014141" y="1450655"/>
            <a:ext cx="3932030" cy="3956690"/>
          </a:xfrm>
        </p:spPr>
        <p:txBody>
          <a:bodyPr anchor="ctr">
            <a:normAutofit/>
          </a:bodyPr>
          <a:lstStyle/>
          <a:p>
            <a:r>
              <a:rPr lang="en-US" sz="5600" dirty="0">
                <a:solidFill>
                  <a:schemeClr val="bg1"/>
                </a:solidFill>
              </a:rPr>
              <a:t>What is its impact going to be in the future?</a:t>
            </a:r>
            <a:br>
              <a:rPr lang="en-US" sz="5600" dirty="0">
                <a:solidFill>
                  <a:schemeClr val="bg1"/>
                </a:solidFill>
              </a:rPr>
            </a:br>
            <a:endParaRPr lang="en-ZA" sz="5600" dirty="0">
              <a:solidFill>
                <a:schemeClr val="bg1"/>
              </a:solidFill>
            </a:endParaRPr>
          </a:p>
        </p:txBody>
      </p:sp>
      <p:cxnSp>
        <p:nvCxnSpPr>
          <p:cNvPr id="9" name="Straight Connector 8">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D778051-04F7-39AF-BD8C-11FD7B7FFAE4}"/>
              </a:ext>
            </a:extLst>
          </p:cNvPr>
          <p:cNvSpPr>
            <a:spLocks noGrp="1"/>
          </p:cNvSpPr>
          <p:nvPr>
            <p:ph idx="1"/>
          </p:nvPr>
        </p:nvSpPr>
        <p:spPr>
          <a:xfrm>
            <a:off x="6096000" y="1108061"/>
            <a:ext cx="5008901" cy="4571972"/>
          </a:xfrm>
        </p:spPr>
        <p:txBody>
          <a:bodyPr anchor="ctr">
            <a:normAutofit fontScale="85000" lnSpcReduction="20000"/>
          </a:bodyPr>
          <a:lstStyle/>
          <a:p>
            <a:r>
              <a:rPr lang="en-US" sz="2000" dirty="0">
                <a:solidFill>
                  <a:schemeClr val="bg1"/>
                </a:solidFill>
              </a:rPr>
              <a:t>By 2030, we expect there will between 32 to 40 billion connected devices across the globe. The biggest change won’t just be the number of devices; it will be the fact that they will finally have brains (AI) and nerves (5G/6G) that function together without requiring our help.</a:t>
            </a:r>
          </a:p>
          <a:p>
            <a:r>
              <a:rPr lang="en-US" sz="2000" dirty="0">
                <a:solidFill>
                  <a:schemeClr val="bg1"/>
                </a:solidFill>
              </a:rPr>
              <a:t>Smart grids and bridges will use sensors to identify structural fatigue or power surges. They can automatically reroute electricity or request a repair robot before a failure happens.</a:t>
            </a:r>
          </a:p>
          <a:p>
            <a:r>
              <a:rPr lang="en-US" sz="2000" dirty="0">
                <a:solidFill>
                  <a:schemeClr val="bg1"/>
                </a:solidFill>
              </a:rPr>
              <a:t>Every major physical object, such as your car or entire city blocks, will have a virtual 3D twin that mirrors  it in real-time. This lets engineers test  “what if scenarios in the digital world before making changes in the physical.</a:t>
            </a:r>
          </a:p>
          <a:p>
            <a:r>
              <a:rPr lang="en-US" sz="2000" dirty="0">
                <a:solidFill>
                  <a:schemeClr val="bg1"/>
                </a:solidFill>
              </a:rPr>
              <a:t>In the future, products will have “Digital Passports”. When you finish using a phone or a toaster, its IoT tag will inform a recycling robot about the materials inside and how to disassemble it for reuse.</a:t>
            </a:r>
          </a:p>
          <a:p>
            <a:pPr marL="0" indent="0">
              <a:buNone/>
            </a:pPr>
            <a:endParaRPr lang="en-US" sz="2000" dirty="0">
              <a:solidFill>
                <a:schemeClr val="bg1"/>
              </a:solidFill>
            </a:endParaRPr>
          </a:p>
        </p:txBody>
      </p:sp>
    </p:spTree>
    <p:extLst>
      <p:ext uri="{BB962C8B-B14F-4D97-AF65-F5344CB8AC3E}">
        <p14:creationId xmlns:p14="http://schemas.microsoft.com/office/powerpoint/2010/main" val="4085031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F281FC84-D59D-A6CE-6407-5B35CBC2FF8A}"/>
              </a:ext>
            </a:extLst>
          </p:cNvPr>
          <p:cNvSpPr>
            <a:spLocks noGrp="1"/>
          </p:cNvSpPr>
          <p:nvPr>
            <p:ph type="title"/>
          </p:nvPr>
        </p:nvSpPr>
        <p:spPr>
          <a:xfrm>
            <a:off x="838200" y="669925"/>
            <a:ext cx="4508946" cy="1325563"/>
          </a:xfrm>
        </p:spPr>
        <p:txBody>
          <a:bodyPr anchor="b">
            <a:normAutofit/>
          </a:bodyPr>
          <a:lstStyle/>
          <a:p>
            <a:pPr algn="r"/>
            <a:r>
              <a:rPr lang="en-US">
                <a:solidFill>
                  <a:schemeClr val="bg1"/>
                </a:solidFill>
              </a:rPr>
              <a:t>My referenecs</a:t>
            </a:r>
            <a:endParaRPr lang="en-ZA">
              <a:solidFill>
                <a:schemeClr val="bg1"/>
              </a:solidFill>
            </a:endParaRPr>
          </a:p>
        </p:txBody>
      </p:sp>
      <p:cxnSp>
        <p:nvCxnSpPr>
          <p:cNvPr id="23" name="Straight Connector 22">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5166CFB-7D5C-0EB1-38B4-1759BEDB6830}"/>
              </a:ext>
            </a:extLst>
          </p:cNvPr>
          <p:cNvSpPr>
            <a:spLocks noGrp="1"/>
          </p:cNvSpPr>
          <p:nvPr>
            <p:ph idx="1"/>
          </p:nvPr>
        </p:nvSpPr>
        <p:spPr>
          <a:xfrm>
            <a:off x="1392667" y="2398957"/>
            <a:ext cx="9406666" cy="3526144"/>
          </a:xfrm>
        </p:spPr>
        <p:txBody>
          <a:bodyPr>
            <a:normAutofit/>
          </a:bodyPr>
          <a:lstStyle/>
          <a:p>
            <a:r>
              <a:rPr lang="en-US" sz="2000" dirty="0">
                <a:solidFill>
                  <a:schemeClr val="bg1"/>
                </a:solidFill>
                <a:hlinkClick r:id="rId2"/>
              </a:rPr>
              <a:t>https://www,ibm.com</a:t>
            </a:r>
            <a:endParaRPr lang="en-US" sz="2000" dirty="0">
              <a:solidFill>
                <a:schemeClr val="bg1"/>
              </a:solidFill>
            </a:endParaRPr>
          </a:p>
          <a:p>
            <a:r>
              <a:rPr lang="en-US" sz="2000" dirty="0">
                <a:solidFill>
                  <a:schemeClr val="bg1"/>
                </a:solidFill>
                <a:hlinkClick r:id="rId3"/>
              </a:rPr>
              <a:t>https://www.tectargets.com</a:t>
            </a:r>
            <a:endParaRPr lang="en-US" sz="2000" dirty="0">
              <a:solidFill>
                <a:schemeClr val="bg1"/>
              </a:solidFill>
            </a:endParaRPr>
          </a:p>
          <a:p>
            <a:r>
              <a:rPr lang="en-US" sz="2000" dirty="0">
                <a:solidFill>
                  <a:schemeClr val="bg1"/>
                </a:solidFill>
                <a:hlinkClick r:id="rId4"/>
              </a:rPr>
              <a:t>https://www.invesopedia.com</a:t>
            </a:r>
            <a:endParaRPr lang="en-US" sz="2000" dirty="0">
              <a:solidFill>
                <a:schemeClr val="bg1"/>
              </a:solidFill>
            </a:endParaRPr>
          </a:p>
          <a:p>
            <a:r>
              <a:rPr lang="en-US" sz="2000" dirty="0">
                <a:solidFill>
                  <a:schemeClr val="bg1"/>
                </a:solidFill>
                <a:hlinkClick r:id="rId5"/>
              </a:rPr>
              <a:t>https://www.oracle.com</a:t>
            </a:r>
            <a:endParaRPr lang="en-US" sz="2000" dirty="0">
              <a:solidFill>
                <a:schemeClr val="bg1"/>
              </a:solidFill>
            </a:endParaRPr>
          </a:p>
          <a:p>
            <a:endParaRPr lang="en-ZA" sz="2000" dirty="0">
              <a:solidFill>
                <a:schemeClr val="bg1"/>
              </a:solidFill>
            </a:endParaRPr>
          </a:p>
        </p:txBody>
      </p:sp>
      <p:sp>
        <p:nvSpPr>
          <p:cNvPr id="25" name="Rectangle 24">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79572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250</TotalTime>
  <Words>768</Words>
  <Application>Microsoft Office PowerPoint</Application>
  <PresentationFormat>Widescreen</PresentationFormat>
  <Paragraphs>33</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Rubik</vt:lpstr>
      <vt:lpstr>Office Theme</vt:lpstr>
      <vt:lpstr>Assessment 2: The Internet of things</vt:lpstr>
      <vt:lpstr>What is the Internet of Things? </vt:lpstr>
      <vt:lpstr>What is the history of IoT? </vt:lpstr>
      <vt:lpstr>What technologies enable IoT? </vt:lpstr>
      <vt:lpstr>What is its impact? </vt:lpstr>
      <vt:lpstr>What is its impact going to be in the future? </vt:lpstr>
      <vt:lpstr>My referenecs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Phakama Myeni</dc:creator>
  <cp:lastModifiedBy>Phakama Myeni</cp:lastModifiedBy>
  <cp:revision>7</cp:revision>
  <dcterms:created xsi:type="dcterms:W3CDTF">2026-02-07T12:25:47Z</dcterms:created>
  <dcterms:modified xsi:type="dcterms:W3CDTF">2026-02-08T21:38:45Z</dcterms:modified>
</cp:coreProperties>
</file>